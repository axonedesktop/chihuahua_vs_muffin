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9C0E50-2489-43DF-8724-7C6E88B88C54}">
  <a:tblStyle styleId="{599C0E50-2489-43DF-8724-7C6E88B88C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0a0d69a5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0a0d69a5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0a0d69a5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0a0d69a5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0a0d69a5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0a0d69a5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0a0d69a5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0a0d69a5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a0d69a5f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0a0d69a5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0a0d69a5f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0a0d69a5f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0a0d69a5f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0a0d69a5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0a0d69a5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0a0d69a5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0a0d69a5f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0a0d69a5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0a0d69a5f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0a0d69a5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208500" y="238275"/>
            <a:ext cx="8742000" cy="10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Chihuahua vs Muffin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201000" y="1273275"/>
            <a:ext cx="87420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IA Vision Challenge</a:t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825" y="1761425"/>
            <a:ext cx="2578350" cy="2103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 txBox="1"/>
          <p:nvPr/>
        </p:nvSpPr>
        <p:spPr>
          <a:xfrm>
            <a:off x="3282825" y="3939050"/>
            <a:ext cx="2578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/>
              <a:t>Madalenos</a:t>
            </a:r>
            <a:endParaRPr b="1" sz="11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Manuel Garrido Serrano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Daniel Mera Sachse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Israel Soto Cala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Juan Manuel Vega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819150" y="316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Problema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819150" y="1038750"/>
            <a:ext cx="7505700" cy="3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¿Por qué es difícil?</a:t>
            </a:r>
            <a:endParaRPr/>
          </a:p>
        </p:txBody>
      </p:sp>
      <p:pic>
        <p:nvPicPr>
          <p:cNvPr id="138" name="Google Shape;13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1600" y="1390650"/>
            <a:ext cx="6140800" cy="14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1611850" y="2844400"/>
            <a:ext cx="614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- Ambas clases comparten: forma redonda, tonos marrones, texturas similares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- Clasificación binaria con Deep Learning (CNN)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- Dataset: ~5.400 imágenes (Kaggle — Muffin vs Chihuahua, Samuel Cortinhas)</a:t>
            </a:r>
            <a:endParaRPr sz="1300"/>
          </a:p>
        </p:txBody>
      </p:sp>
      <p:graphicFrame>
        <p:nvGraphicFramePr>
          <p:cNvPr id="140" name="Google Shape;140;p14"/>
          <p:cNvGraphicFramePr/>
          <p:nvPr/>
        </p:nvGraphicFramePr>
        <p:xfrm>
          <a:off x="2596625" y="362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{599C0E50-2489-43DF-8724-7C6E88B88C54}</a:tableStyleId>
              </a:tblPr>
              <a:tblGrid>
                <a:gridCol w="1877100"/>
                <a:gridCol w="1877100"/>
              </a:tblGrid>
              <a:tr h="20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/>
                        <a:t>Split</a:t>
                      </a:r>
                      <a:endParaRPr sz="7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/>
                        <a:t>Imágenes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0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/>
                        <a:t>Train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/>
                        <a:t>3.870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30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/>
                        <a:t>Validación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/>
                        <a:t>430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30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/>
                        <a:t>Test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700"/>
                        <a:t>1.076</a:t>
                      </a:r>
                      <a:endParaRPr sz="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819150" y="227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del Modelo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819150" y="871200"/>
            <a:ext cx="75057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CNN con 4 bloques convolucionales</a:t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563" y="1182175"/>
            <a:ext cx="5412874" cy="240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1865575" y="3626325"/>
            <a:ext cx="5412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/>
              <a:t>Técnicas clave: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Data Augmentation (flip, rotación, zoom, contraste) — solo activo en entrenamiento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Batch Normalization tras cada Conv2D y la primera Dense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Dropout agresivo (50% y 30% en capas densas)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819150" y="242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Entrenamiento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819150" y="955700"/>
            <a:ext cx="75057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Configuración:</a:t>
            </a:r>
            <a:endParaRPr/>
          </a:p>
        </p:txBody>
      </p:sp>
      <p:graphicFrame>
        <p:nvGraphicFramePr>
          <p:cNvPr id="155" name="Google Shape;155;p16"/>
          <p:cNvGraphicFramePr/>
          <p:nvPr/>
        </p:nvGraphicFramePr>
        <p:xfrm>
          <a:off x="520925" y="1368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{599C0E50-2489-43DF-8724-7C6E88B88C54}</a:tableStyleId>
              </a:tblPr>
              <a:tblGrid>
                <a:gridCol w="2018550"/>
                <a:gridCol w="2018550"/>
              </a:tblGrid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Parámetro</a:t>
                      </a:r>
                      <a:endParaRPr sz="9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Valor</a:t>
                      </a:r>
                      <a:endParaRPr sz="9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Optimizer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Adam (lr=0.001)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Loss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Binary Crossentropy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Batch size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32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Épocas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12 (de 30 máx.)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" name="Google Shape;156;p16"/>
          <p:cNvSpPr txBox="1"/>
          <p:nvPr/>
        </p:nvSpPr>
        <p:spPr>
          <a:xfrm>
            <a:off x="2576700" y="3139888"/>
            <a:ext cx="3990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/>
              <a:t>Callbacks inteligentes: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- EarlyStopping (patience=5, restaura mejores pesos)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- ReduceLROnPlateau (reduce lr ×0.5 si val_loss estanca)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- TimeStopping (máximo 10 min)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- TensorBoard (monitoreo en vivo)</a:t>
            </a:r>
            <a:endParaRPr sz="1300"/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250" y="1368075"/>
            <a:ext cx="3990601" cy="16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819150" y="354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Resultados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819150" y="955700"/>
            <a:ext cx="75057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Métricas principales:</a:t>
            </a:r>
            <a:endParaRPr/>
          </a:p>
        </p:txBody>
      </p:sp>
      <p:graphicFrame>
        <p:nvGraphicFramePr>
          <p:cNvPr id="164" name="Google Shape;164;p17"/>
          <p:cNvGraphicFramePr/>
          <p:nvPr/>
        </p:nvGraphicFramePr>
        <p:xfrm>
          <a:off x="736875" y="1368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{599C0E50-2489-43DF-8724-7C6E88B88C54}</a:tableStyleId>
              </a:tblPr>
              <a:tblGrid>
                <a:gridCol w="2018550"/>
                <a:gridCol w="2018550"/>
              </a:tblGrid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Métrica</a:t>
                      </a:r>
                      <a:endParaRPr sz="9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Valor</a:t>
                      </a:r>
                      <a:endParaRPr sz="9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Accuracy train 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93.07%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Accuracy validación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/>
                        <a:t>90.44%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/>
                        <a:t>Accuracy test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/>
                        <a:t>91.45%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/>
                        <a:t>AUC-ROC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/>
                        <a:t>0.972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2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/>
                        <a:t>AUC-PR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/>
                        <a:t>0.974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5" name="Google Shape;165;p17"/>
          <p:cNvSpPr txBox="1"/>
          <p:nvPr/>
        </p:nvSpPr>
        <p:spPr>
          <a:xfrm>
            <a:off x="736875" y="3385625"/>
            <a:ext cx="730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Convergencia rápida: 86% val accuracy desde la época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Test (91.45%) superior a validación (90.44%) → sin overfitting real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800" y="1368075"/>
            <a:ext cx="3097089" cy="192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819150" y="361575"/>
            <a:ext cx="7505700" cy="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Experimentos y Comparativa</a:t>
            </a:r>
            <a:endParaRPr/>
          </a:p>
        </p:txBody>
      </p:sp>
      <p:sp>
        <p:nvSpPr>
          <p:cNvPr id="172" name="Google Shape;172;p18"/>
          <p:cNvSpPr txBox="1"/>
          <p:nvPr>
            <p:ph idx="1" type="body"/>
          </p:nvPr>
        </p:nvSpPr>
        <p:spPr>
          <a:xfrm>
            <a:off x="744675" y="3849725"/>
            <a:ext cx="7505700" cy="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 u="sng">
                <a:solidFill>
                  <a:srgbClr val="0000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Lo que más impactó:</a:t>
            </a:r>
            <a:endParaRPr b="1" sz="1050" u="sng">
              <a:solidFill>
                <a:srgbClr val="00000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1. Data Augmentation → mejor generalización</a:t>
            </a:r>
            <a:endParaRPr sz="1050">
              <a:solidFill>
                <a:srgbClr val="00000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2. BatchNorm → entrenamiento estable y rápido</a:t>
            </a:r>
            <a:endParaRPr sz="1050">
              <a:solidFill>
                <a:srgbClr val="00000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000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3. Dropout agresivo → controla overfitting con dataset grande</a:t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375" y="1217175"/>
            <a:ext cx="4527241" cy="225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2308375" y="3514625"/>
            <a:ext cx="452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700"/>
              <a:t>(Tabla comparativa Baseline vs Madalenos — verde=nuestro, rojo=baseline)</a:t>
            </a:r>
            <a:endParaRPr i="1"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819150" y="324375"/>
            <a:ext cx="75057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de Errores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819150" y="866325"/>
            <a:ext cx="75057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¿Dónde falla el modelo? (92 errores de 1.076 — 8.55%)</a:t>
            </a:r>
            <a:endParaRPr/>
          </a:p>
        </p:txBody>
      </p:sp>
      <p:pic>
        <p:nvPicPr>
          <p:cNvPr id="181" name="Google Shape;18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146700"/>
            <a:ext cx="3674708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819150" y="3794650"/>
            <a:ext cx="3674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/>
              <a:t>Patrones de error:</a:t>
            </a:r>
            <a:endParaRPr b="1" sz="11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- 46 chihuahuas confundidos con muffins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(pequeños, redondeados, color claro; ilustraciones artísticas)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- 46 muffins confundidos con chihuahuas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(ángulos inusuales, fondos complejos, contextos de receta)</a:t>
            </a:r>
            <a:endParaRPr sz="1000"/>
          </a:p>
        </p:txBody>
      </p:sp>
      <p:sp>
        <p:nvSpPr>
          <p:cNvPr id="183" name="Google Shape;183;p19"/>
          <p:cNvSpPr txBox="1"/>
          <p:nvPr/>
        </p:nvSpPr>
        <p:spPr>
          <a:xfrm>
            <a:off x="4638500" y="3834825"/>
            <a:ext cx="293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- Zonas r</a:t>
            </a:r>
            <a:r>
              <a:rPr b="1" lang="es" sz="1000"/>
              <a:t>ojas/amarillas </a:t>
            </a:r>
            <a:r>
              <a:rPr lang="es" sz="1000"/>
              <a:t>= lo que activó la decisión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- En errores: el modelo hace zoom en el fondo en vez del objeto</a:t>
            </a:r>
            <a:endParaRPr sz="1000"/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8499" y="1146700"/>
            <a:ext cx="2933700" cy="2652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819150" y="324375"/>
            <a:ext cx="75057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Matriz de Confusión y Curvas ROC</a:t>
            </a:r>
            <a:endParaRPr/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128025"/>
            <a:ext cx="3321026" cy="185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8175" y="1124750"/>
            <a:ext cx="3603999" cy="1858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19150" y="3075300"/>
            <a:ext cx="72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Resultados en test (1.076 imágenes):</a:t>
            </a:r>
            <a:endParaRPr b="1"/>
          </a:p>
        </p:txBody>
      </p:sp>
      <p:graphicFrame>
        <p:nvGraphicFramePr>
          <p:cNvPr id="193" name="Google Shape;193;p20"/>
          <p:cNvGraphicFramePr/>
          <p:nvPr/>
        </p:nvGraphicFramePr>
        <p:xfrm>
          <a:off x="818550" y="347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{599C0E50-2489-43DF-8724-7C6E88B88C54}</a:tableStyleId>
              </a:tblPr>
              <a:tblGrid>
                <a:gridCol w="2413000"/>
                <a:gridCol w="2413000"/>
                <a:gridCol w="2413000"/>
              </a:tblGrid>
              <a:tr h="28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Real \ Predicho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Chihuahua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Muffin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26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Chihuahua (534)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488 ✓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46 ✗ 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Muffin (542)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46 ✗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496 </a:t>
                      </a:r>
                      <a:r>
                        <a:rPr lang="es" sz="1000"/>
                        <a:t>✓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4" name="Google Shape;194;p20"/>
          <p:cNvSpPr txBox="1"/>
          <p:nvPr/>
        </p:nvSpPr>
        <p:spPr>
          <a:xfrm>
            <a:off x="818550" y="4511725"/>
            <a:ext cx="723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- Accuracy: </a:t>
            </a:r>
            <a:r>
              <a:rPr b="1" lang="es" sz="10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91.45%</a:t>
            </a:r>
            <a:r>
              <a:rPr lang="es" sz="10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· AUC-ROC: </a:t>
            </a:r>
            <a:r>
              <a:rPr b="1" lang="es" sz="10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0.972</a:t>
            </a:r>
            <a:r>
              <a:rPr lang="es" sz="10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· AUC-PR: </a:t>
            </a:r>
            <a:r>
              <a:rPr b="1" lang="es" sz="10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0.974</a:t>
            </a:r>
            <a:endParaRPr b="1" sz="1050"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title"/>
          </p:nvPr>
        </p:nvSpPr>
        <p:spPr>
          <a:xfrm>
            <a:off x="819150" y="242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 en Vivo (Gradio)</a:t>
            </a:r>
            <a:endParaRPr/>
          </a:p>
        </p:txBody>
      </p:sp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819150" y="955700"/>
            <a:ext cx="75057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Interfaz web interactiva</a:t>
            </a:r>
            <a:r>
              <a:rPr b="1" lang="es"/>
              <a:t>:</a:t>
            </a:r>
            <a:endParaRPr b="1"/>
          </a:p>
        </p:txBody>
      </p:sp>
      <p:sp>
        <p:nvSpPr>
          <p:cNvPr id="201" name="Google Shape;201;p21"/>
          <p:cNvSpPr txBox="1"/>
          <p:nvPr/>
        </p:nvSpPr>
        <p:spPr>
          <a:xfrm>
            <a:off x="2151950" y="4058200"/>
            <a:ext cx="505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/>
              <a:t>Funcionalidades:</a:t>
            </a:r>
            <a:endParaRPr b="1" sz="12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- Subida de imagen / webcam / portapapeles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- Predicción con confianza por clase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- Visualización Grad-CAM en tiempo real (pestaña avanzada)</a:t>
            </a:r>
            <a:endParaRPr sz="1200"/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950" y="1340300"/>
            <a:ext cx="5056000" cy="266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819150" y="558450"/>
            <a:ext cx="7505700" cy="7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Mejoras Posibles</a:t>
            </a:r>
            <a:endParaRPr/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819150" y="1283325"/>
            <a:ext cx="75057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¿Qué haríamos para mejorar?</a:t>
            </a:r>
            <a:endParaRPr b="1"/>
          </a:p>
        </p:txBody>
      </p:sp>
      <p:sp>
        <p:nvSpPr>
          <p:cNvPr id="209" name="Google Shape;209;p22"/>
          <p:cNvSpPr txBox="1"/>
          <p:nvPr/>
        </p:nvSpPr>
        <p:spPr>
          <a:xfrm>
            <a:off x="2532025" y="1739999"/>
            <a:ext cx="39906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1. </a:t>
            </a:r>
            <a:r>
              <a:rPr b="1" lang="es" sz="1050">
                <a:solidFill>
                  <a:srgbClr val="1F1F1F"/>
                </a:solidFill>
                <a:highlight>
                  <a:schemeClr val="dk1"/>
                </a:highlight>
              </a:rPr>
              <a:t>Transfer Learning</a:t>
            </a: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 — Usar MobileNetV2 o EfficientNet preentrenado</a:t>
            </a:r>
            <a:endParaRPr sz="1050">
              <a:solidFill>
                <a:srgbClr val="1F1F1F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2. </a:t>
            </a:r>
            <a:r>
              <a:rPr b="1" lang="es" sz="1050">
                <a:solidFill>
                  <a:srgbClr val="1F1F1F"/>
                </a:solidFill>
                <a:highlight>
                  <a:schemeClr val="dk1"/>
                </a:highlight>
              </a:rPr>
              <a:t>Más datos</a:t>
            </a: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 — Ampliar dataset con ejemplos difíciles</a:t>
            </a:r>
            <a:endParaRPr sz="1050">
              <a:solidFill>
                <a:srgbClr val="1F1F1F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3. </a:t>
            </a:r>
            <a:r>
              <a:rPr b="1" lang="es" sz="1050">
                <a:solidFill>
                  <a:srgbClr val="1F1F1F"/>
                </a:solidFill>
                <a:highlight>
                  <a:schemeClr val="dk1"/>
                </a:highlight>
              </a:rPr>
              <a:t>Arquitecturas alternativas</a:t>
            </a: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 — Probar un mini Vision Transformer (ViT)</a:t>
            </a:r>
            <a:endParaRPr sz="1050">
              <a:solidFill>
                <a:srgbClr val="1F1F1F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4. </a:t>
            </a:r>
            <a:r>
              <a:rPr b="1" lang="es" sz="1050">
                <a:solidFill>
                  <a:srgbClr val="1F1F1F"/>
                </a:solidFill>
                <a:highlight>
                  <a:schemeClr val="dk1"/>
                </a:highlight>
              </a:rPr>
              <a:t>Ensemble</a:t>
            </a: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 — Combinar varios modelos para reducir varianza</a:t>
            </a:r>
            <a:endParaRPr sz="1050">
              <a:solidFill>
                <a:srgbClr val="1F1F1F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5. </a:t>
            </a:r>
            <a:r>
              <a:rPr b="1" lang="es" sz="1050">
                <a:solidFill>
                  <a:srgbClr val="1F1F1F"/>
                </a:solidFill>
                <a:highlight>
                  <a:schemeClr val="dk1"/>
                </a:highlight>
              </a:rPr>
              <a:t>Test-Time Augmentation</a:t>
            </a:r>
            <a:r>
              <a:rPr lang="es" sz="1050">
                <a:solidFill>
                  <a:srgbClr val="1F1F1F"/>
                </a:solidFill>
                <a:highlight>
                  <a:schemeClr val="dk1"/>
                </a:highlight>
              </a:rPr>
              <a:t> — Promediar predicciones con múltiples augmentaciones</a:t>
            </a:r>
            <a:endParaRPr sz="1050">
              <a:solidFill>
                <a:srgbClr val="1F1F1F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856375" y="5998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 y Reparto</a:t>
            </a:r>
            <a:endParaRPr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819150" y="1335450"/>
            <a:ext cx="75057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Lo que hemos aprendido:</a:t>
            </a:r>
            <a:endParaRPr b="1"/>
          </a:p>
        </p:txBody>
      </p:sp>
      <p:sp>
        <p:nvSpPr>
          <p:cNvPr id="216" name="Google Shape;216;p23"/>
          <p:cNvSpPr txBox="1"/>
          <p:nvPr/>
        </p:nvSpPr>
        <p:spPr>
          <a:xfrm>
            <a:off x="1526450" y="1777250"/>
            <a:ext cx="5867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Data Augmentation es imprescindible con datasets pequeños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BatchNorm + Dropout = combinación potente contra overfitting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Grad-CAM y TensorBoard son herramientas esenciales para depurar modelos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 Gradio facilita la demostración de cualquier modelo</a:t>
            </a:r>
            <a:endParaRPr/>
          </a:p>
        </p:txBody>
      </p:sp>
      <p:graphicFrame>
        <p:nvGraphicFramePr>
          <p:cNvPr id="217" name="Google Shape;217;p23"/>
          <p:cNvGraphicFramePr/>
          <p:nvPr/>
        </p:nvGraphicFramePr>
        <p:xfrm>
          <a:off x="952500" y="300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{599C0E50-2489-43DF-8724-7C6E88B88C54}</a:tableStyleId>
              </a:tblPr>
              <a:tblGrid>
                <a:gridCol w="3619500"/>
                <a:gridCol w="3619500"/>
              </a:tblGrid>
              <a:tr h="7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Nombre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Responsabilidad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7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Juan Manuel Vega Carrillo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Dataset y preprocesado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Manuel Garrido Serrano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Arquitectura CNN y entrenamiento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Israel Soto Cala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Visualización, errores y TensorBoard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Daniel Mera Sachse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Documentación y defensa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